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640080"/>
            <a:ext cx="2194560" cy="2194560"/>
          </a:xfrm>
          <a:prstGeom prst="ellipse">
            <a:avLst/>
          </a:prstGeom>
          <a:solidFill>
            <a:srgbClr val="2C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1920240"/>
            <a:ext cx="1463040" cy="1463040"/>
          </a:xfrm>
          <a:prstGeom prst="ellipse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2926080"/>
            <a:ext cx="914400" cy="914400"/>
          </a:xfrm>
          <a:prstGeom prst="ellipse">
            <a:avLst/>
          </a:prstGeom>
          <a:solidFill>
            <a:srgbClr val="F2A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59436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SPENDWISE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676656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Know where your money goes.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603504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DAE2EF"/>
                </a:solidFill>
                <a:latin typeface="Aptos"/>
              </a:rPr>
              <a:t>A simple personal budget and expense tracker designed to help people plan spending, track expenses, and build better money habits.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5303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Founder: Emmanuel Okimo Alfonce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68112"/>
            <a:ext cx="6675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BECBDF"/>
                </a:solidFill>
                <a:latin typeface="Aptos"/>
              </a:rPr>
              <a:t>PLP Startup Building for Developers • First draft •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5303520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CONCEPT STAGE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2223A"/>
                </a:solidFill>
                <a:latin typeface="Aptos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24128"/>
            <a:ext cx="658368" cy="54864"/>
          </a:xfrm>
          <a:prstGeom prst="rect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188720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27084"/>
                </a:solidFill>
                <a:latin typeface="Aptos"/>
              </a:rPr>
              <a:t>Many people want to manage money better, but daily spending is hard to follow.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27084"/>
                </a:solidFill>
                <a:latin typeface="Aptos"/>
              </a:rPr>
              <a:t>SPENDWISE  |  FIRST-DRAFT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27084"/>
                </a:solidFill>
                <a:latin typeface="Aptos"/>
              </a:rPr>
              <a:t>02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82296" cy="2148840"/>
          </a:xfrm>
          <a:prstGeom prst="rect">
            <a:avLst/>
          </a:prstGeom>
          <a:solidFill>
            <a:srgbClr val="2C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3911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Spending is easy to forget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478024"/>
            <a:ext cx="30632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Small purchases add up, especially when people rely on memory or scattered notes.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74519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74519"/>
            <a:ext cx="82296" cy="2148840"/>
          </a:xfrm>
          <a:prstGeom prst="rect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03911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Budgets are difficult to maintain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78024"/>
            <a:ext cx="30632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Without a simple routine, people may overspend before the month ends.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74519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874519"/>
            <a:ext cx="82296" cy="2148840"/>
          </a:xfrm>
          <a:prstGeom prst="rect">
            <a:avLst/>
          </a:prstGeom>
          <a:solidFill>
            <a:srgbClr val="F2A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203911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Tools can feel complicated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478024"/>
            <a:ext cx="30632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Some users need a clear, beginner-friendly way to record income and expenses.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7200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2223A"/>
                </a:solidFill>
                <a:latin typeface="Aptos"/>
              </a:rPr>
              <a:t>Who feels this most?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10912"/>
            <a:ext cx="98755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263040"/>
                </a:solidFill>
                <a:latin typeface="Aptos"/>
              </a:rPr>
              <a:t>Students • Early-career workers • Households • Small informal earners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8686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27084"/>
                </a:solidFill>
                <a:latin typeface="Aptos"/>
              </a:rPr>
              <a:t>Problem hypothesis to validate through interviews and user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2223A"/>
                </a:solidFill>
                <a:latin typeface="Aptos"/>
              </a:rP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24128"/>
            <a:ext cx="658368" cy="54864"/>
          </a:xfrm>
          <a:prstGeom prst="rect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188720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27084"/>
                </a:solidFill>
                <a:latin typeface="Aptos"/>
              </a:rPr>
              <a:t>SpendWise makes personal money management simple enough to use every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27084"/>
                </a:solidFill>
                <a:latin typeface="Aptos"/>
              </a:rPr>
              <a:t>SPENDWISE  |  FIRST-DRAFT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27084"/>
                </a:solidFill>
                <a:latin typeface="Aptos"/>
              </a:rPr>
              <a:t>03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657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2223A"/>
                </a:solidFill>
                <a:latin typeface="Aptos"/>
              </a:rPr>
              <a:t>A straightforward workflow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23160"/>
            <a:ext cx="438912" cy="438912"/>
          </a:xfrm>
          <a:prstGeom prst="ellipse">
            <a:avLst/>
          </a:prstGeom>
          <a:solidFill>
            <a:srgbClr val="2C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404872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Set a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4872"/>
            <a:ext cx="4206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63040"/>
                </a:solidFill>
                <a:latin typeface="Aptos"/>
              </a:rPr>
              <a:t>Choose a monthly spending limit.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172968"/>
            <a:ext cx="438912" cy="438912"/>
          </a:xfrm>
          <a:prstGeom prst="ellipse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36975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79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Record expenses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54679"/>
            <a:ext cx="4206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63040"/>
                </a:solidFill>
                <a:latin typeface="Aptos"/>
              </a:rPr>
              <a:t>Add amount, category, and date.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922776"/>
            <a:ext cx="438912" cy="438912"/>
          </a:xfrm>
          <a:prstGeom prst="ellipse">
            <a:avLst/>
          </a:prstGeom>
          <a:solidFill>
            <a:srgbClr val="2C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86784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904488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See your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904488"/>
            <a:ext cx="4206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63040"/>
                </a:solidFill>
                <a:latin typeface="Aptos"/>
              </a:rPr>
              <a:t>Review spending and remaining money.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672583"/>
            <a:ext cx="438912" cy="438912"/>
          </a:xfrm>
          <a:prstGeom prst="ellipse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736592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654296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Adjust early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654296"/>
            <a:ext cx="4206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63040"/>
                </a:solidFill>
                <a:latin typeface="Aptos"/>
              </a:rPr>
              <a:t>Get feedback when spending is near the limit.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057400"/>
            <a:ext cx="29260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2057400"/>
            <a:ext cx="82296" cy="2743200"/>
          </a:xfrm>
          <a:prstGeom prst="rect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8" y="2221992"/>
            <a:ext cx="25603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Core promise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2660904"/>
            <a:ext cx="2560320" cy="2011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Understand your spending at a glance, without needing advanced financial knowledge.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15000"/>
            <a:ext cx="7772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27084"/>
                </a:solidFill>
                <a:latin typeface="Aptos"/>
              </a:rPr>
              <a:t>Proposed solution — feature set will be refined after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2223A"/>
                </a:solidFill>
                <a:latin typeface="Aptos"/>
              </a:rPr>
              <a:t>The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24128"/>
            <a:ext cx="658368" cy="54864"/>
          </a:xfrm>
          <a:prstGeom prst="rect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188720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27084"/>
                </a:solidFill>
                <a:latin typeface="Aptos"/>
              </a:rPr>
              <a:t>A mobile-friendly dashboard with the essentials visible immediately.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27084"/>
                </a:solidFill>
                <a:latin typeface="Aptos"/>
              </a:rPr>
              <a:t>SPENDWISE  |  FIRST-DRAFT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27084"/>
                </a:solidFill>
                <a:latin typeface="Aptos"/>
              </a:rPr>
              <a:t>04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36576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2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11680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2223A"/>
                </a:solidFill>
                <a:latin typeface="Aptos"/>
              </a:rPr>
              <a:t>SpendWise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27084"/>
                </a:solidFill>
                <a:latin typeface="Aptos"/>
              </a:rPr>
              <a:t>MONTHLY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80360"/>
            <a:ext cx="26517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2C69D2"/>
                </a:solidFill>
                <a:latin typeface="Aptos"/>
              </a:rPr>
              <a:t>KES 20,000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20440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63040"/>
                </a:solidFill>
                <a:latin typeface="Aptos"/>
              </a:rPr>
              <a:t>Spent: KES 7,500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931920"/>
            <a:ext cx="2926080" cy="164592"/>
          </a:xfrm>
          <a:prstGeom prst="roundRect">
            <a:avLst/>
          </a:prstGeom>
          <a:solidFill>
            <a:srgbClr val="E6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43000" y="3931920"/>
            <a:ext cx="1097280" cy="164592"/>
          </a:xfrm>
          <a:prstGeom prst="roundRect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389120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2223A"/>
                </a:solidFill>
                <a:latin typeface="Aptos"/>
              </a:rPr>
              <a:t>Recent expenses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773168"/>
            <a:ext cx="1554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Food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773168"/>
            <a:ext cx="1051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263040"/>
                </a:solidFill>
                <a:latin typeface="Aptos"/>
              </a:rPr>
              <a:t>KES 2,500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5111496"/>
            <a:ext cx="1554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Transport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111496"/>
            <a:ext cx="1051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263040"/>
                </a:solidFill>
                <a:latin typeface="Aptos"/>
              </a:rPr>
              <a:t>KES 1,800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5449824"/>
            <a:ext cx="1554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Utilities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449824"/>
            <a:ext cx="1051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263040"/>
                </a:solidFill>
                <a:latin typeface="Aptos"/>
              </a:rPr>
              <a:t>KES 1,200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144768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627084"/>
                </a:solidFill>
                <a:latin typeface="Aptos"/>
              </a:rPr>
              <a:t>Illustrative mock-up with sample figures — not actual customer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011680"/>
            <a:ext cx="5486400" cy="3200400"/>
          </a:xfrm>
          <a:prstGeom prst="rect">
            <a:avLst/>
          </a:prstGeom>
          <a:noFill/>
        </p:spPr>
        <p:txBody>
          <a:bodyPr wrap="square" lIns="54864" rIns="45720" tIns="18288" bIns="18288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t>Budget overview and remaining balance</a:t>
            </a:r>
          </a:p>
          <a:p>
            <a:pPr>
              <a:spcAft>
                <a:spcPts val="16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t>Expense entry with categories</a:t>
            </a:r>
          </a:p>
          <a:p>
            <a:pPr>
              <a:spcAft>
                <a:spcPts val="16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t>Simple summaries by category</a:t>
            </a:r>
          </a:p>
          <a:p>
            <a:pPr>
              <a:spcAft>
                <a:spcPts val="16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t>Budget feedback and reminders (planned)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2223A"/>
                </a:solidFill>
                <a:latin typeface="Aptos"/>
              </a:rP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24128"/>
            <a:ext cx="658368" cy="54864"/>
          </a:xfrm>
          <a:prstGeom prst="rect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188720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27084"/>
                </a:solidFill>
                <a:latin typeface="Aptos"/>
              </a:rPr>
              <a:t>Start with users who need simple, low-friction budgeting.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27084"/>
                </a:solidFill>
                <a:latin typeface="Aptos"/>
              </a:rPr>
              <a:t>SPENDWISE  |  FIRST-DRAFT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27084"/>
                </a:solidFill>
                <a:latin typeface="Aptos"/>
              </a:rPr>
              <a:t>05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82296" cy="1965960"/>
          </a:xfrm>
          <a:prstGeom prst="rect">
            <a:avLst/>
          </a:prstGeom>
          <a:solidFill>
            <a:srgbClr val="2C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84832"/>
            <a:ext cx="3017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Initial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523744"/>
            <a:ext cx="3017520" cy="1234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Students and young adults who manage a limited monthly budget.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2024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920240"/>
            <a:ext cx="82296" cy="1965960"/>
          </a:xfrm>
          <a:prstGeom prst="rect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2084832"/>
            <a:ext cx="3017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Next segment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523744"/>
            <a:ext cx="3017520" cy="1234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Workers and households who want a simple spending overview.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92024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920240"/>
            <a:ext cx="82296" cy="1965960"/>
          </a:xfrm>
          <a:prstGeom prst="rect">
            <a:avLst/>
          </a:prstGeom>
          <a:solidFill>
            <a:srgbClr val="F2A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2084832"/>
            <a:ext cx="3017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523744"/>
            <a:ext cx="3017520" cy="1234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Community groups and financial-literacy programs, subject to partnerships.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3484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2223A"/>
                </a:solidFill>
                <a:latin typeface="Aptos"/>
              </a:rPr>
              <a:t>Market sizing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9875520" cy="1234440"/>
          </a:xfrm>
          <a:prstGeom prst="rect">
            <a:avLst/>
          </a:prstGeom>
          <a:noFill/>
        </p:spPr>
        <p:txBody>
          <a:bodyPr wrap="square" lIns="54864" rIns="45720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040"/>
                </a:solidFill>
                <a:latin typeface="Aptos"/>
              </a:defRPr>
            </a:pPr>
            <a:r>
              <a:t>Estimate reachable users in the first launch area.</a:t>
            </a:r>
          </a:p>
          <a:p>
            <a:pPr>
              <a:spcAft>
                <a:spcPts val="800"/>
              </a:spcAft>
              <a:defRPr sz="1500">
                <a:solidFill>
                  <a:srgbClr val="263040"/>
                </a:solidFill>
                <a:latin typeface="Aptos"/>
              </a:defRPr>
            </a:pPr>
            <a:r>
              <a:t>Interview potential users to confirm the problem and willingness to pay.</a:t>
            </a:r>
          </a:p>
          <a:p>
            <a:pPr>
              <a:spcAft>
                <a:spcPts val="800"/>
              </a:spcAft>
              <a:defRPr sz="1500">
                <a:solidFill>
                  <a:srgbClr val="263040"/>
                </a:solidFill>
                <a:latin typeface="Aptos"/>
              </a:defRPr>
            </a:pPr>
            <a:r>
              <a:t>Calculate market size from verified user counts and a tested price.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172200"/>
            <a:ext cx="8686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27084"/>
                </a:solidFill>
                <a:latin typeface="Aptos"/>
              </a:rPr>
              <a:t>No market-size figures are claimed yet; validate with credible local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2223A"/>
                </a:solidFill>
                <a:latin typeface="Aptos"/>
              </a:rPr>
              <a:t>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24128"/>
            <a:ext cx="658368" cy="54864"/>
          </a:xfrm>
          <a:prstGeom prst="rect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188720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27084"/>
                </a:solidFill>
                <a:latin typeface="Aptos"/>
              </a:rPr>
              <a:t>Begin with free core features and test sustainable revenue options.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27084"/>
                </a:solidFill>
                <a:latin typeface="Aptos"/>
              </a:rPr>
              <a:t>SPENDWISE  |  FIRST-DRAFT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27084"/>
                </a:solidFill>
                <a:latin typeface="Aptos"/>
              </a:rPr>
              <a:t>06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82296" cy="2240280"/>
          </a:xfrm>
          <a:prstGeom prst="rect">
            <a:avLst/>
          </a:prstGeom>
          <a:solidFill>
            <a:srgbClr val="2C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3911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Free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78024"/>
            <a:ext cx="306324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Budget setup, expense logging, and basic summaries to encourage adoption.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74519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74519"/>
            <a:ext cx="82296" cy="2240280"/>
          </a:xfrm>
          <a:prstGeom prst="rect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03911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Premium plan — proposed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78024"/>
            <a:ext cx="306324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Optional advanced reports, multiple budgets, and export features for a small fee.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74519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874519"/>
            <a:ext cx="82296" cy="2240280"/>
          </a:xfrm>
          <a:prstGeom prst="rect">
            <a:avLst/>
          </a:prstGeom>
          <a:solidFill>
            <a:srgbClr val="F2A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203911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Partnerships — later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478024"/>
            <a:ext cx="306324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Explore responsible financial-literacy partnerships with organizations.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63440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2223A"/>
                </a:solidFill>
                <a:latin typeface="Aptos"/>
              </a:rPr>
              <a:t>What we need to 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074920"/>
            <a:ext cx="9875520" cy="1097280"/>
          </a:xfrm>
          <a:prstGeom prst="rect">
            <a:avLst/>
          </a:prstGeom>
          <a:noFill/>
        </p:spPr>
        <p:txBody>
          <a:bodyPr wrap="square" lIns="54864" rIns="45720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3040"/>
                </a:solidFill>
                <a:latin typeface="Aptos"/>
              </a:defRPr>
            </a:pPr>
            <a:r>
              <a:t>Which features users value enough to pay for</a:t>
            </a:r>
          </a:p>
          <a:p>
            <a:pPr>
              <a:spcAft>
                <a:spcPts val="700"/>
              </a:spcAft>
              <a:defRPr sz="1500">
                <a:solidFill>
                  <a:srgbClr val="263040"/>
                </a:solidFill>
                <a:latin typeface="Aptos"/>
              </a:defRPr>
            </a:pPr>
            <a:r>
              <a:t>Affordable monthly price point</a:t>
            </a:r>
          </a:p>
          <a:p>
            <a:pPr>
              <a:spcAft>
                <a:spcPts val="700"/>
              </a:spcAft>
              <a:defRPr sz="1500">
                <a:solidFill>
                  <a:srgbClr val="263040"/>
                </a:solidFill>
                <a:latin typeface="Aptos"/>
              </a:defRPr>
            </a:pPr>
            <a:r>
              <a:t>Costs of development, support, and secure data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2223A"/>
                </a:solidFill>
                <a:latin typeface="Aptos"/>
              </a:rPr>
              <a:t>Competition and differentiation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24128"/>
            <a:ext cx="658368" cy="54864"/>
          </a:xfrm>
          <a:prstGeom prst="rect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188720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27084"/>
                </a:solidFill>
                <a:latin typeface="Aptos"/>
              </a:rPr>
              <a:t>Users already have alternatives; SpendWise aims to win through simplicity.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27084"/>
                </a:solidFill>
                <a:latin typeface="Aptos"/>
              </a:rPr>
              <a:t>SPENDWISE  |  FIRST-DRAFT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27084"/>
                </a:solidFill>
                <a:latin typeface="Aptos"/>
              </a:rPr>
              <a:t>07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377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Alternative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828800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Strength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4297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SpendWise opportunity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737360"/>
            <a:ext cx="10789920" cy="475488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Alternative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828800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Strength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828800"/>
            <a:ext cx="4297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SpendWise opportunity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331720"/>
            <a:ext cx="107899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478024"/>
            <a:ext cx="23774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Aptos"/>
              </a:rPr>
              <a:t>Paper notes /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478024"/>
            <a:ext cx="30175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Easy to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478024"/>
            <a:ext cx="43891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More organized summaries and balance tracking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200400"/>
            <a:ext cx="10789920" cy="822960"/>
          </a:xfrm>
          <a:prstGeom prst="rect">
            <a:avLst/>
          </a:prstGeom>
          <a:solidFill>
            <a:srgbClr val="E8EFF8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346704"/>
            <a:ext cx="23774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Aptos"/>
              </a:rPr>
              <a:t>Spreadsheets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346704"/>
            <a:ext cx="30175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Flexible and customizable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46704"/>
            <a:ext cx="43891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Simpler setup for beginners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69079"/>
            <a:ext cx="107899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215383"/>
            <a:ext cx="23774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Aptos"/>
              </a:rPr>
              <a:t>Existing finance apps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215383"/>
            <a:ext cx="30175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May offer many advanced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215383"/>
            <a:ext cx="43891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Focus on clarity and essential budgeting tasks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440680"/>
            <a:ext cx="102412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27084"/>
                </a:solidFill>
                <a:latin typeface="Aptos"/>
              </a:rPr>
              <a:t>Differentiation is a hypothesis, not a proven advantage. Compare real products during research.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2223A"/>
                </a:solidFill>
                <a:latin typeface="Aptos"/>
              </a:rPr>
              <a:t>Go-to-market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24128"/>
            <a:ext cx="658368" cy="54864"/>
          </a:xfrm>
          <a:prstGeom prst="rect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188720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27084"/>
                </a:solidFill>
                <a:latin typeface="Aptos"/>
              </a:rPr>
              <a:t>Reach early users through trusted communities and practical demonstrations.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27084"/>
                </a:solidFill>
                <a:latin typeface="Aptos"/>
              </a:rPr>
              <a:t>SPENDWISE  |  FIRST-DRAFT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27084"/>
                </a:solidFill>
                <a:latin typeface="Aptos"/>
              </a:rPr>
              <a:t>08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82296" cy="2148840"/>
          </a:xfrm>
          <a:prstGeom prst="rect">
            <a:avLst/>
          </a:prstGeom>
          <a:solidFill>
            <a:srgbClr val="2C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99339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1. Community outreach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32304"/>
            <a:ext cx="30632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Introduce the concept through student groups, local communities, and peer networks.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82296" cy="2148840"/>
          </a:xfrm>
          <a:prstGeom prst="rect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99339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2. Demonstrations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32304"/>
            <a:ext cx="30632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Show how to set a budget and record a sample week of expenses.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828800"/>
            <a:ext cx="82296" cy="2148840"/>
          </a:xfrm>
          <a:prstGeom prst="rect">
            <a:avLst/>
          </a:prstGeom>
          <a:solidFill>
            <a:srgbClr val="F2A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199339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3. Referral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432304"/>
            <a:ext cx="30632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Invite early users to share feedback and recommend the tool if useful.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80560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2223A"/>
                </a:solidFill>
                <a:latin typeface="Aptos"/>
              </a:rPr>
              <a:t>First 90-day 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9875520" cy="1188720"/>
          </a:xfrm>
          <a:prstGeom prst="rect">
            <a:avLst/>
          </a:prstGeom>
          <a:noFill/>
        </p:spPr>
        <p:txBody>
          <a:bodyPr wrap="square" lIns="54864" rIns="45720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040"/>
                </a:solidFill>
                <a:latin typeface="Aptos"/>
              </a:defRPr>
            </a:pPr>
            <a:r>
              <a:t>Interview 15–20 potential users.</a:t>
            </a:r>
          </a:p>
          <a:p>
            <a:pPr>
              <a:spcAft>
                <a:spcPts val="800"/>
              </a:spcAft>
              <a:defRPr sz="1500">
                <a:solidFill>
                  <a:srgbClr val="263040"/>
                </a:solidFill>
                <a:latin typeface="Aptos"/>
              </a:defRPr>
            </a:pPr>
            <a:r>
              <a:t>Test a clickable prototype or simple working version.</a:t>
            </a:r>
          </a:p>
          <a:p>
            <a:pPr>
              <a:spcAft>
                <a:spcPts val="800"/>
              </a:spcAft>
              <a:defRPr sz="1500">
                <a:solidFill>
                  <a:srgbClr val="263040"/>
                </a:solidFill>
                <a:latin typeface="Aptos"/>
              </a:defRPr>
            </a:pPr>
            <a:r>
              <a:t>Track activation, weekly use, and feedback; iterate before scaling.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2223A"/>
                </a:solidFill>
                <a:latin typeface="Aptos"/>
              </a:rPr>
              <a:t>Traction and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24128"/>
            <a:ext cx="658368" cy="54864"/>
          </a:xfrm>
          <a:prstGeom prst="rect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188720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27084"/>
                </a:solidFill>
                <a:latin typeface="Aptos"/>
              </a:rPr>
              <a:t>The project is at concept / early-build stage; the next goal is evidence of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27084"/>
                </a:solidFill>
                <a:latin typeface="Aptos"/>
              </a:rPr>
              <a:t>SPENDWISE  |  FIRST-DRAFT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27084"/>
                </a:solidFill>
                <a:latin typeface="Aptos"/>
              </a:rPr>
              <a:t>09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82296" cy="2011680"/>
          </a:xfrm>
          <a:prstGeom prst="rect">
            <a:avLst/>
          </a:prstGeom>
          <a:solidFill>
            <a:srgbClr val="2C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3911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Current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78024"/>
            <a:ext cx="306324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Pitch concept and product direction defined for the first draft.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74519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74519"/>
            <a:ext cx="82296" cy="2011680"/>
          </a:xfrm>
          <a:prstGeom prst="rect">
            <a:avLst/>
          </a:prstGeom>
          <a:solidFill>
            <a:srgbClr val="F2A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03911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Not claimed yet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78024"/>
            <a:ext cx="306324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No verified user, revenue, retention, or partnership metrics included.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74519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874519"/>
            <a:ext cx="82296" cy="2011680"/>
          </a:xfrm>
          <a:prstGeom prst="rect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203911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Next proof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478024"/>
            <a:ext cx="306324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User interviews, prototype tests, and a small pilot.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34840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2223A"/>
                </a:solidFill>
                <a:latin typeface="Aptos"/>
              </a:rPr>
              <a:t>Metrics to report after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46320"/>
            <a:ext cx="9875520" cy="1325880"/>
          </a:xfrm>
          <a:prstGeom prst="rect">
            <a:avLst/>
          </a:prstGeom>
          <a:noFill/>
        </p:spPr>
        <p:txBody>
          <a:bodyPr wrap="square" lIns="54864" rIns="45720" tIns="18288" b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040"/>
                </a:solidFill>
                <a:latin typeface="Aptos"/>
              </a:defRPr>
            </a:pPr>
            <a:r>
              <a:t>Number of people interviewed and top recurring needs</a:t>
            </a:r>
          </a:p>
          <a:p>
            <a:pPr>
              <a:spcAft>
                <a:spcPts val="600"/>
              </a:spcAft>
              <a:defRPr sz="1500">
                <a:solidFill>
                  <a:srgbClr val="263040"/>
                </a:solidFill>
                <a:latin typeface="Aptos"/>
              </a:defRPr>
            </a:pPr>
            <a:r>
              <a:t>Users who complete their first budget and first expense entry</a:t>
            </a:r>
          </a:p>
          <a:p>
            <a:pPr>
              <a:spcAft>
                <a:spcPts val="600"/>
              </a:spcAft>
              <a:defRPr sz="1500">
                <a:solidFill>
                  <a:srgbClr val="263040"/>
                </a:solidFill>
                <a:latin typeface="Aptos"/>
              </a:defRPr>
            </a:pPr>
            <a:r>
              <a:t>Weekly active users and 4-week retention</a:t>
            </a:r>
          </a:p>
          <a:p>
            <a:pPr>
              <a:spcAft>
                <a:spcPts val="600"/>
              </a:spcAft>
              <a:defRPr sz="1500">
                <a:solidFill>
                  <a:srgbClr val="263040"/>
                </a:solidFill>
                <a:latin typeface="Aptos"/>
              </a:defRPr>
            </a:pPr>
            <a:r>
              <a:t>Feedback on usefulness and willingness to pay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2223A"/>
                </a:solidFill>
                <a:latin typeface="Aptos"/>
              </a:rPr>
              <a:t>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24128"/>
            <a:ext cx="658368" cy="54864"/>
          </a:xfrm>
          <a:prstGeom prst="rect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188720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27084"/>
                </a:solidFill>
                <a:latin typeface="Aptos"/>
              </a:rPr>
              <a:t>A focused founder-led project, with skills and advisors added as the product develops.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27084"/>
                </a:solidFill>
                <a:latin typeface="Aptos"/>
              </a:rPr>
              <a:t>SPENDWISE  |  FIRST-DRAFT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27084"/>
                </a:solidFill>
                <a:latin typeface="Aptos"/>
              </a:rPr>
              <a:t>10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47548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82296" cy="2423160"/>
          </a:xfrm>
          <a:prstGeom prst="rect">
            <a:avLst/>
          </a:prstGeom>
          <a:solidFill>
            <a:srgbClr val="2C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39112"/>
            <a:ext cx="4389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Founder — Emmanuel Okimo Alfonce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78024"/>
            <a:ext cx="4389120" cy="16916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Leads the concept, learning, user discovery, and development of the first version.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874519"/>
            <a:ext cx="47548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874519"/>
            <a:ext cx="82296" cy="2423160"/>
          </a:xfrm>
          <a:prstGeom prst="rect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2039112"/>
            <a:ext cx="4389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Future support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78024"/>
            <a:ext cx="4389120" cy="16916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Product design, software development, user research, privacy/security guidance, and financial-literacy advice.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00600"/>
            <a:ext cx="3840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2223A"/>
                </a:solidFill>
                <a:latin typeface="Aptos"/>
              </a:rPr>
              <a:t>Why this team can start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9875520" cy="1005840"/>
          </a:xfrm>
          <a:prstGeom prst="rect">
            <a:avLst/>
          </a:prstGeom>
          <a:noFill/>
        </p:spPr>
        <p:txBody>
          <a:bodyPr wrap="square" lIns="54864" rIns="45720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3040"/>
                </a:solidFill>
                <a:latin typeface="Aptos"/>
              </a:defRPr>
            </a:pPr>
            <a:r>
              <a:t>Start with a small, testable product.</a:t>
            </a:r>
          </a:p>
          <a:p>
            <a:pPr>
              <a:spcAft>
                <a:spcPts val="700"/>
              </a:spcAft>
              <a:defRPr sz="1500">
                <a:solidFill>
                  <a:srgbClr val="263040"/>
                </a:solidFill>
                <a:latin typeface="Aptos"/>
              </a:defRPr>
            </a:pPr>
            <a:r>
              <a:t>Learn directly from intended users.</a:t>
            </a:r>
          </a:p>
          <a:p>
            <a:pPr>
              <a:spcAft>
                <a:spcPts val="700"/>
              </a:spcAft>
              <a:defRPr sz="1500">
                <a:solidFill>
                  <a:srgbClr val="263040"/>
                </a:solidFill>
                <a:latin typeface="Aptos"/>
              </a:defRPr>
            </a:pPr>
            <a:r>
              <a:t>Build trust through clear communication and responsible handling of financial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2223A"/>
                </a:solidFill>
                <a:latin typeface="Aptos"/>
              </a:rPr>
              <a:t>Financial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24128"/>
            <a:ext cx="658368" cy="54864"/>
          </a:xfrm>
          <a:prstGeom prst="rect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188720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27084"/>
                </a:solidFill>
                <a:latin typeface="Aptos"/>
              </a:rPr>
              <a:t>Build a simple forecast only after pricing and user-acquisition assumptions are tested.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27084"/>
                </a:solidFill>
                <a:latin typeface="Aptos"/>
              </a:rPr>
              <a:t>SPENDWISE  |  FIRST-DRAFT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27084"/>
                </a:solidFill>
                <a:latin typeface="Aptos"/>
              </a:rPr>
              <a:t>11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82296" cy="2148840"/>
          </a:xfrm>
          <a:prstGeom prst="rect">
            <a:avLst/>
          </a:prstGeom>
          <a:solidFill>
            <a:srgbClr val="2C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99339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Costs to estimate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32304"/>
            <a:ext cx="30632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Development, hosting, maintenance, support, outreach, and user research.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82296" cy="2148840"/>
          </a:xfrm>
          <a:prstGeom prst="rect">
            <a:avLst/>
          </a:prstGeom>
          <a:solidFill>
            <a:srgbClr val="1C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99339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Revenue drivers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32304"/>
            <a:ext cx="30632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Premium conversion, subscription price, and any verified partnership income.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828800"/>
            <a:ext cx="82296" cy="2148840"/>
          </a:xfrm>
          <a:prstGeom prst="rect">
            <a:avLst/>
          </a:prstGeom>
          <a:solidFill>
            <a:srgbClr val="F2A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199339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Aptos"/>
              </a:rPr>
              <a:t>Forecast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432304"/>
            <a:ext cx="30632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63040"/>
                </a:solidFill>
                <a:latin typeface="Aptos"/>
              </a:rPr>
              <a:t>Prepare 12–24 month low, base, and high scenarios after pilot results.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80560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2223A"/>
                </a:solidFill>
                <a:latin typeface="Aptos"/>
              </a:rPr>
              <a:t>Financial milestones (proposed)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9875520" cy="1143000"/>
          </a:xfrm>
          <a:prstGeom prst="rect">
            <a:avLst/>
          </a:prstGeom>
          <a:noFill/>
        </p:spPr>
        <p:txBody>
          <a:bodyPr wrap="square" lIns="54864" rIns="45720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3040"/>
                </a:solidFill>
                <a:latin typeface="Aptos"/>
              </a:defRPr>
            </a:pPr>
            <a:r>
              <a:t>Month 1–3: validate problem and prototype costs.</a:t>
            </a:r>
          </a:p>
          <a:p>
            <a:pPr>
              <a:spcAft>
                <a:spcPts val="700"/>
              </a:spcAft>
              <a:defRPr sz="1500">
                <a:solidFill>
                  <a:srgbClr val="263040"/>
                </a:solidFill>
                <a:latin typeface="Aptos"/>
              </a:defRPr>
            </a:pPr>
            <a:r>
              <a:t>Month 4–6: run a small pilot and test pricing.</a:t>
            </a:r>
          </a:p>
          <a:p>
            <a:pPr>
              <a:spcAft>
                <a:spcPts val="700"/>
              </a:spcAft>
              <a:defRPr sz="1500">
                <a:solidFill>
                  <a:srgbClr val="263040"/>
                </a:solidFill>
                <a:latin typeface="Aptos"/>
              </a:defRPr>
            </a:pPr>
            <a:r>
              <a:t>Month 7–12: use measured retention and conversion to refine forecasts.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172200"/>
            <a:ext cx="8686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27084"/>
                </a:solidFill>
                <a:latin typeface="Aptos"/>
              </a:rPr>
              <a:t>No revenue or cost figures are invented; add realistic estimates after research.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CAAA0"/>
                </a:solidFill>
                <a:latin typeface="Aptos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05256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Help us test and build a better money habit.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8686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0">
                <a:solidFill>
                  <a:srgbClr val="DCE5F2"/>
                </a:solidFill>
                <a:latin typeface="Aptos"/>
              </a:rPr>
              <a:t>We are seeking pilot users, a mentor, and early-stage support to validate SpendWise before scaling.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Support will be used for: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160520"/>
            <a:ext cx="7132320" cy="1371600"/>
          </a:xfrm>
          <a:prstGeom prst="rect">
            <a:avLst/>
          </a:prstGeom>
          <a:noFill/>
        </p:spPr>
        <p:txBody>
          <a:bodyPr wrap="square" lIns="54864" rIns="45720" tIns="18288" bIns="18288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Prototype development and testing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User interviews and pilot onboarding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Privacy, security, and financial-literacy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3886200"/>
            <a:ext cx="27432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SPENDWISE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526280"/>
            <a:ext cx="31089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DCE5F2"/>
                </a:solidFill>
                <a:latin typeface="Aptos"/>
              </a:rPr>
              <a:t>Know where your money goes.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89320"/>
            <a:ext cx="5029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Founder: Emmanuel Okimo Alfonce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309360"/>
            <a:ext cx="3657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BECBDF"/>
                </a:solidFill>
                <a:latin typeface="Aptos"/>
              </a:rPr>
              <a:t>First draft •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